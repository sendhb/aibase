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600" b="1" i="0">
                <a:solidFill>
                  <a:srgbClr val="00B4D8"/>
                </a:solidFill>
              </a:defRPr>
            </a:pPr>
            <a:r>
              <a:t>aibase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90E0EF"/>
                </a:solidFill>
              </a:defRPr>
            </a:pPr>
            <a:r>
              <a:t>AI Agent Operating System</a:t>
            </a:r>
            <a:br/>
            <a:r>
              <a:t>+ Reliable AI Engineering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FFFFFF"/>
                </a:solidFill>
              </a:defRPr>
            </a:pPr>
            <a:r>
              <a:t>让 AI 从「会写代码」到「可靠地做成事」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hb · MIT License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为什么需要 aibase？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3931920" cy="329184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B4D8"/>
                </a:solidFill>
              </a:defRPr>
            </a:pPr>
            <a:r>
              <a:t>第一代假设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✓ 读规则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✓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✓ 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63040"/>
            <a:ext cx="3931920" cy="3291840"/>
          </a:xfrm>
          <a:prstGeom prst="rect">
            <a:avLst/>
          </a:prstGeom>
          <a:solidFill>
            <a:srgbClr val="2C1F1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</a:defRPr>
            </a:pPr>
            <a:r>
              <a:t>2026 现实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✗ 乱改禁写目录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✗ 忽略架构关系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✗ 无法自评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✗ 验证失败无修复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90E0EF"/>
                </a:solidFill>
              </a:defRPr>
            </a:pPr>
            <a:r>
              <a:t>定义 AI 如何：理解 → 建模 → 规划 → 执行 → 验证 → 学习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aibase 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645920"/>
            <a:ext cx="164592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4D8"/>
                </a:solidFill>
              </a:defRPr>
            </a:pPr>
            <a:r>
              <a:t>AIOS 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Governance + Cognition +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645920"/>
            <a:ext cx="164592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4D8"/>
                </a:solidFill>
              </a:defRPr>
            </a:pPr>
            <a:r>
              <a:t>角色式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按角色而非按工具定义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645920"/>
            <a:ext cx="164592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4D8"/>
                </a:solidFill>
              </a:defRPr>
            </a:pPr>
            <a:r>
              <a:t>Governance 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明确边界约束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1645920"/>
            <a:ext cx="164592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</a:defRPr>
            </a:pPr>
            <a: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4D8"/>
                </a:solidFill>
              </a:defRPr>
            </a:pPr>
            <a:r>
              <a:t>可靠执行闭环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Plan → Verify → Repair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645920"/>
            <a:ext cx="164592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4D8"/>
                </a:solidFill>
              </a:defRPr>
            </a:pPr>
            <a:r>
              <a:t>评估体系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成功率 / 返工 / 模型对比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整体架构：kit 布局自举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90E0EF"/>
                </a:solidFill>
              </a:defRPr>
            </a:pPr>
            <a:r>
              <a:t>aibase 自身就是 kit 布局（自举/dogfood）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4023360" cy="8229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AGENTS.md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E8EAED"/>
                </a:solidFill>
              </a:defRPr>
            </a:pPr>
            <a:r>
              <a:t>项目入口（25+ 工具原生读）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828800"/>
            <a:ext cx="4023360" cy="8229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965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9019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kit/aios/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E8EAED"/>
                </a:solidFill>
              </a:defRPr>
            </a:pPr>
            <a:r>
              <a:t>AIOS 内核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4023360" cy="8229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07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kit/agents/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E8EAED"/>
                </a:solidFill>
              </a:defRPr>
            </a:pPr>
            <a:r>
              <a:t>7 个角色定义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834640"/>
            <a:ext cx="4023360" cy="8229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971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9077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kit/profiles/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E8EAED"/>
                </a:solidFill>
              </a:defRPr>
            </a:pPr>
            <a:r>
              <a:t>项目类型模板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4023360" cy="8229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77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13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kit/cli/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E8EAED"/>
                </a:solidFill>
              </a:defRPr>
            </a:pPr>
            <a:r>
              <a:t>统一控制入口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840480"/>
            <a:ext cx="4023360" cy="8229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977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913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runtime/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E8EAED"/>
                </a:solidFill>
              </a:defRPr>
            </a:pPr>
            <a:r>
              <a:t>文件即数据库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治理层：AI 不可以做什么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90E0EF"/>
                </a:solidFill>
              </a:defRPr>
            </a:pPr>
            <a:r>
              <a:t>治理先于执行——任何 AI 动作前先过 governance 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task-policy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0195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AED"/>
                </a:solidFill>
              </a:defRPr>
            </a:pPr>
            <a:r>
              <a:t>任务状态机、分级、返工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96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modification-policy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963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AED"/>
                </a:solidFill>
              </a:defRPr>
            </a:pPr>
            <a:r>
              <a:t>目录可写/禁写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security-policy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906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AED"/>
                </a:solidFill>
              </a:defRPr>
            </a:pPr>
            <a:r>
              <a:t>Rule of Two、密钥保护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79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8503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risk-policy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85031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AED"/>
                </a:solidFill>
              </a:defRPr>
            </a:pPr>
            <a:r>
              <a:t>P0-P3 分级与审批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roadmap-policy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7939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AED"/>
                </a:solidFill>
              </a:defRPr>
            </a:pPr>
            <a:r>
              <a:t>路线图变更控制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风险分级与权限模型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90E0EF"/>
                </a:solidFill>
              </a:defRPr>
            </a:pPr>
            <a:r>
              <a:t>治理强度随风险分级，不搞一刀切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920240"/>
            <a:ext cx="2011680" cy="2560320"/>
          </a:xfrm>
          <a:prstGeom prst="rect">
            <a:avLst/>
          </a:prstGeom>
          <a:solidFill>
            <a:srgbClr val="7722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EF4444"/>
                </a:solidFill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</a:defRPr>
            </a:pPr>
            <a:r>
              <a:t>数据库/支付/auth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E8EAED"/>
                </a:solidFill>
              </a:defRPr>
            </a:pPr>
            <a:r>
              <a:t>必须人工批准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920240"/>
            <a:ext cx="2011680" cy="2560320"/>
          </a:xfrm>
          <a:prstGeom prst="rect">
            <a:avLst/>
          </a:prstGeom>
          <a:solidFill>
            <a:srgbClr val="7A4F0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</a:defRPr>
            </a:pPr>
            <a:r>
              <a:t>API 契约/CI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657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E8EAED"/>
                </a:solidFill>
              </a:defRPr>
            </a:pPr>
            <a:r>
              <a:t>Reviewer 审查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20240"/>
            <a:ext cx="2011680" cy="2560320"/>
          </a:xfrm>
          <a:prstGeom prst="rect">
            <a:avLst/>
          </a:prstGeom>
          <a:solidFill>
            <a:srgbClr val="085C4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0B981"/>
                </a:solidFill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51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</a:defRPr>
            </a:pPr>
            <a:r>
              <a:t>常规更改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657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E8EAED"/>
                </a:solidFill>
              </a:defRPr>
            </a:pPr>
            <a:r>
              <a:t>常规流程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79" y="1920240"/>
            <a:ext cx="2011680" cy="2560320"/>
          </a:xfrm>
          <a:prstGeom prst="rect">
            <a:avLst/>
          </a:prstGeom>
          <a:solidFill>
            <a:srgbClr val="313378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5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</a:defRPr>
            </a:pPr>
            <a: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51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</a:defRPr>
            </a:pPr>
            <a:r>
              <a:t>低风险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657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E8EAED"/>
                </a:solidFill>
              </a:defRPr>
            </a:pPr>
            <a:r>
              <a:t>快速路径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执行闭环：Reliable Execution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90E0EF"/>
                </a:solidFill>
              </a:defRPr>
            </a:pPr>
            <a:r>
              <a:t>验证是流程的一部分，不是 AI 的自觉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1097280" cy="457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84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0E0EF"/>
                </a:solidFill>
              </a:defRPr>
            </a:pPr>
            <a:r>
              <a:t>启动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2011680"/>
            <a:ext cx="1097280" cy="457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84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0E0EF"/>
                </a:solidFill>
              </a:defRPr>
            </a:pPr>
            <a:r>
              <a:t>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011680"/>
            <a:ext cx="1097280" cy="457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084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0E0EF"/>
                </a:solidFill>
              </a:defRPr>
            </a:pPr>
            <a:r>
              <a:t>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1097280" cy="457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084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0E0EF"/>
                </a:solidFill>
              </a:defRPr>
            </a:pPr>
            <a:r>
              <a:t>Execute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011680"/>
            <a:ext cx="1097280" cy="457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084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0E0EF"/>
                </a:solidFill>
              </a:defRPr>
            </a:pPr>
            <a:r>
              <a:t>Reflect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1097280" cy="457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84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0E0EF"/>
                </a:solidFill>
              </a:defRPr>
            </a:pPr>
            <a:r>
              <a:t>Verify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011680"/>
            <a:ext cx="1097280" cy="4572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084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0E0EF"/>
                </a:solidFill>
              </a:defRPr>
            </a:pPr>
            <a:r>
              <a:t>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00B4D8"/>
                </a:solidFill>
              </a:defRPr>
            </a:pPr>
            <a:r>
              <a:t>→  →  →  →  →  → 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§0 启动分流：改规格？→ SDD 分支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§5 Verify 机械强制：真跑 build/lint/test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§6 Repair 返工上限 3 次，超限人工介入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角色体系：按角色而非工具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0E0EF"/>
                </a:solidFill>
              </a:defRPr>
            </a:pPr>
            <a:r>
              <a:t>新：Coder 角色需要什么能力？　旧：Claude 能做什么？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01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0E0EF"/>
                </a:solidFill>
              </a:defRPr>
            </a:pPr>
            <a:r>
              <a:t>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0195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只管流程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96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0E0EF"/>
                </a:solidFill>
              </a:defRPr>
            </a:pPr>
            <a: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963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不明不写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090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0E0EF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906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必须过 verify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79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Reviewer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6850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0E0EF"/>
                </a:solidFill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85031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生成者 ≠ 审查者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79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Tester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0E0EF"/>
                </a:solidFill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27939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测试先行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机械强制层：四道墙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0E0EF"/>
                </a:solidFill>
              </a:defRPr>
            </a:pPr>
            <a:r>
              <a:t>规则写在文档里是建议，写在文件系统/Git/CI 里才是纪律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进程沙箱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0E0EF"/>
                </a:solidFill>
              </a:defRPr>
            </a:pPr>
            <a:r>
              <a:t>sandbox-run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019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Rule of Two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文件权限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96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0E0EF"/>
                </a:solidFill>
              </a:defRPr>
            </a:pPr>
            <a: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963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改生成代码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Git 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90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0E0EF"/>
                </a:solidFill>
              </a:defRPr>
            </a:pPr>
            <a:r>
              <a:t>pre-commit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9067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无 TASK 引用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79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6850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0E0EF"/>
                </a:solidFill>
              </a:defRPr>
            </a:pPr>
            <a: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8503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绕过本地 hook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CLI 工具箱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645920"/>
            <a:ext cx="3931920" cy="100584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mkproject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创建新项目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645920"/>
            <a:ext cx="3931920" cy="100584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任务全生命周期管理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3931920" cy="100584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真实执行 build/lint/test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926080"/>
            <a:ext cx="3931920" cy="100584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429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人格系统管理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3931920" cy="100584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915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锁定生成目录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206240"/>
            <a:ext cx="3931920" cy="100584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4343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4D8"/>
                </a:solidFill>
              </a:defRPr>
            </a:pPr>
            <a:r>
              <a:t>sandbox-run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70915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沙箱隔离执行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知识图谱：knowledge/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0E0EF"/>
                </a:solidFill>
              </a:defRPr>
            </a:pPr>
            <a:r>
              <a:t>AI 最大的问题不是不会写代码，而是不知道系统关系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265176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B4D8"/>
                </a:solidFill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架构设计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265176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659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317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B4D8"/>
                </a:solidFill>
              </a:defRPr>
            </a:pPr>
            <a:r>
              <a:t>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517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模块清单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265176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9659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3317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B4D8"/>
                </a:solidFill>
              </a:defRPr>
            </a:pPr>
            <a:r>
              <a:t>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6517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依赖图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265176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B4D8"/>
                </a:solidFill>
              </a:defRPr>
            </a:pPr>
            <a:r>
              <a:t>ADR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架构决策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200400"/>
            <a:ext cx="265176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3375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7033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B4D8"/>
                </a:solidFill>
              </a:defRPr>
            </a:pPr>
            <a: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0233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已知问题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200400"/>
            <a:ext cx="265176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33375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37033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B4D8"/>
                </a:solidFill>
              </a:defRPr>
            </a:pPr>
            <a:r>
              <a:t>Glossary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40233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E8EAED"/>
                </a:solidFill>
              </a:defRPr>
            </a:pPr>
            <a:r>
              <a:t>术语表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快速上手：5 分钟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solidFill>
            <a:srgbClr val="1A2332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0E0EF"/>
                </a:solidFill>
              </a:defRPr>
            </a:pPr>
            <a:r>
              <a:t>$ git clone &lt;aibase&gt; &amp;&amp; cd my-project</a:t>
            </a:r>
            <a:br/>
            <a:r>
              <a:t>$ bash kit/cli/mkproject . --profile backend</a:t>
            </a:r>
            <a:br/>
            <a:r>
              <a:t>$ bash kit/cli/task new "实现登录" --priority P1</a:t>
            </a:r>
            <a:br/>
            <a:r>
              <a:t>$ bash kit/cli/task start TASK-001</a:t>
            </a:r>
            <a:br/>
            <a:r>
              <a:t>$ bash kit/cli/task verify TASK-001</a:t>
            </a:r>
            <a:br/>
            <a:r>
              <a:t>$ bash kit/cli/task review TASK-001</a:t>
            </a:r>
            <a:br/>
            <a:r>
              <a:t>$ bash kit/cli/task approve TASK-001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实际应用：aibase 自举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0E0EF"/>
                </a:solidFill>
              </a:defRPr>
            </a:pPr>
            <a:r>
              <a:t>框架自己就是自己的第一个用户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0320" cy="21945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B4D8"/>
                </a:solidFill>
              </a:defRPr>
            </a:pPr>
            <a: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EAED"/>
                </a:solidFill>
              </a:defRPr>
            </a:pPr>
            <a:r>
              <a:t>TASK 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011680"/>
            <a:ext cx="2560320" cy="21945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B4D8"/>
                </a:solidFill>
              </a:defRPr>
            </a:pPr>
            <a:r>
              <a:t>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0632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EAED"/>
                </a:solidFill>
              </a:defRPr>
            </a:pPr>
            <a:r>
              <a:t>已注册项目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2560320" cy="21945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EAED"/>
                </a:solidFill>
              </a:defRPr>
            </a:pPr>
            <a:r>
              <a:t>覆盖率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0E0EF"/>
                </a:solidFill>
              </a:defRPr>
            </a:pPr>
            <a:r>
              <a:t>✓ VERIFY 记录完整</a:t>
            </a:r>
            <a:br/>
            <a:r>
              <a:t>✓ REVIEW 审查齐全</a:t>
            </a:r>
            <a:br/>
            <a:r>
              <a:t>✓ autoloop 心跳日志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aimonitor：框架造出的第一个成品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0E0EF"/>
                </a:solidFill>
              </a:defRPr>
            </a:pPr>
            <a:r>
              <a:t>一个实时监控多个 AI 项目的仪表盘，也是框架设计的"活体验证"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384048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E0EF"/>
                </a:solidFill>
              </a:defRPr>
            </a:pPr>
            <a:r>
              <a:t>① 框架能造出真成品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384048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E0EF"/>
                </a:solidFill>
              </a:defRPr>
            </a:pPr>
            <a:r>
              <a:t>② 「文件即数据库」被真实消费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74720"/>
            <a:ext cx="384048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11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E0EF"/>
                </a:solidFill>
              </a:defRPr>
            </a:pPr>
            <a:r>
              <a:t>③ 跨项目协作已运行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4023360" cy="2560320"/>
          </a:xfrm>
          <a:prstGeom prst="rect">
            <a:avLst/>
          </a:prstGeom>
          <a:solidFill>
            <a:srgbClr val="1A1F3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runtime/ ← 被监控项目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43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采集层（local/agent）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aimonitor 仪表盘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（:3113）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演进路线：从单项目到流水线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0E0EF"/>
                </a:solidFill>
              </a:defRPr>
            </a:pPr>
            <a:r>
              <a:t>AI 负责跑，人负责定方向、批风险、验收果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B4D8"/>
                </a:solidFill>
              </a:defRPr>
            </a:pPr>
            <a:r>
              <a:t>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758952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E0EF"/>
                </a:solidFill>
              </a:defRPr>
            </a:pPr>
            <a:r>
              <a:t>单项目自动闭环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autoloop coder+reviewer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B4D8"/>
                </a:solidFill>
              </a:defRPr>
            </a:pPr>
            <a:r>
              <a:t>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514600"/>
            <a:ext cx="758952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E0EF"/>
                </a:solidFill>
              </a:defRPr>
            </a:pPr>
            <a:r>
              <a:t>多项目监控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aimonitor 仪表盘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B4D8"/>
                </a:solidFill>
              </a:defRPr>
            </a:pPr>
            <a:r>
              <a:t>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91840"/>
            <a:ext cx="758952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</a:defRPr>
            </a:pPr>
            <a:r>
              <a:t>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E0EF"/>
                </a:solidFill>
              </a:defRPr>
            </a:pPr>
            <a:r>
              <a:t>多项目自动调度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架构就绪，缺编排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B4D8"/>
                </a:solidFill>
              </a:defRPr>
            </a:pPr>
            <a:r>
              <a:t>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069080"/>
            <a:ext cx="7589520" cy="64008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</a:defRPr>
            </a:pPr>
            <a:r>
              <a:t>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0E0EF"/>
                </a:solidFill>
              </a:defRPr>
            </a:pPr>
            <a:r>
              <a:t>点子→成品流水线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愿景阶段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与生态标准的关系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0E0EF"/>
                </a:solidFill>
              </a:defRPr>
            </a:pPr>
            <a:r>
              <a:t>不是孤立框架，是与标准生态对接的工程层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AGENTS.md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90195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25+ AI 工具原生接入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96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AIOS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49631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设计理念同源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9067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tools/ 可包装为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79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850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A2A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685031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跨框架协作协议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79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D8"/>
                </a:solidFill>
              </a:defRPr>
            </a:pPr>
            <a:r>
              <a:t>跨平台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793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Windows/Linux/macOS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B4D8"/>
                </a:solidFill>
              </a:defRPr>
            </a:pPr>
            <a:r>
              <a:t>可靠 AI 工程 = 治理 + 角色 + 闭环 + 机械强制 + 知识 + 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1. AI 不是「收到命令→执行」的助手</a:t>
            </a:r>
            <a:br/>
            <a:r>
              <a:t>    而是「理解→建模→规划→执行→验证→学习」的执行者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971800"/>
            <a:ext cx="8412480" cy="9144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2. 按角色而非工具定义；文件即数据库；治理先于执行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1E3A5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AED"/>
                </a:solidFill>
              </a:defRPr>
            </a:pPr>
            <a:r>
              <a:t>3. 自动化有护栏：低风险自动，高风险人审，超限升级人工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90E0EF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