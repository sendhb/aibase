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4480560"/>
            <a:ext cx="2560320" cy="2560320"/>
          </a:xfrm>
          <a:prstGeom prst="ellipse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822960" y="5120640"/>
            <a:ext cx="2377440" cy="237744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417320"/>
            <a:ext cx="1234440" cy="658368"/>
          </a:xfrm>
          <a:prstGeom prst="roundRect">
            <a:avLst>
              <a:gd name="adj" fmla="val 1388889"/>
            </a:avLst>
          </a:prstGeom>
          <a:solidFill>
            <a:srgbClr val="0E20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463040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1371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Operating System</a:t>
            </a:r>
            <a:endParaRPr lang="en-US" sz="27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27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Reliable AI Engineering Framework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86968" y="37033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AI 从「会写代码」到「可靠地做成事」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05256" y="4370832"/>
            <a:ext cx="192024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hb · MIT License · 2026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5349240"/>
            <a:ext cx="3108960" cy="384048"/>
          </a:xfrm>
          <a:prstGeom prst="roundRect">
            <a:avLst>
              <a:gd name="adj" fmla="val 1428571"/>
            </a:avLst>
          </a:prstGeom>
          <a:solidFill>
            <a:srgbClr val="1A274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34009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AIOS 内核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0" y="5349240"/>
            <a:ext cx="3108960" cy="384048"/>
          </a:xfrm>
          <a:prstGeom prst="roundRect">
            <a:avLst>
              <a:gd name="adj" fmla="val 1428571"/>
            </a:avLst>
          </a:prstGeom>
          <a:solidFill>
            <a:srgbClr val="1A274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534009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Governance 协议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60920" y="5349240"/>
            <a:ext cx="3108960" cy="384048"/>
          </a:xfrm>
          <a:prstGeom prst="roundRect">
            <a:avLst>
              <a:gd name="adj" fmla="val 1428571"/>
            </a:avLst>
          </a:prstGeom>
          <a:solidFill>
            <a:srgbClr val="1A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534009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 可靠执行闭环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页 · 45-60 分钟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背景与动机：为什么需要它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120640" cy="3017520"/>
          </a:xfrm>
          <a:prstGeom prst="roundRect">
            <a:avLst>
              <a:gd name="adj" fmla="val 242424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25880"/>
            <a:ext cx="64008" cy="3017520"/>
          </a:xfrm>
          <a:prstGeom prst="rect">
            <a:avLst/>
          </a:prstGeom>
          <a:solidFill>
            <a:srgbClr val="8CA3C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41732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第一代假设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1801368"/>
            <a:ext cx="4736592" cy="2450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工具 → 读规则 → 执行 → 完成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当成一个「会读规则的助手」：规则写好，AI 照着做就行。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325880"/>
            <a:ext cx="5486400" cy="3017520"/>
          </a:xfrm>
          <a:prstGeom prst="roundRect">
            <a:avLst>
              <a:gd name="adj" fmla="val 242424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325880"/>
            <a:ext cx="64008" cy="30175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368" y="141732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现实：没有治理约束时会失控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73368" y="1801368"/>
            <a:ext cx="5102352" cy="2450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乱改不该改的文件（生成目录）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忽略系统架构关系（不在上下文里）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无法自评（AI 不能审查自己的工作）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验证失败时没有修复机制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526280"/>
            <a:ext cx="11109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2026：AI 已能自主规划、多步执行、调用工具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但能力越大，越需要「操作系统」级的治理约束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109960" cy="1051560"/>
          </a:xfrm>
          <a:prstGeom prst="roundRect">
            <a:avLst>
              <a:gd name="adj" fmla="val 695652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257800"/>
            <a:ext cx="64008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5349240"/>
            <a:ext cx="10744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5733288"/>
            <a:ext cx="10725912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 AI 如何 理解目标 → 建模 → 规划 → 执行 → 验证 → 学习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定位：aibase 是什么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不是「AI 配置模板」，是 AI Agent Operating System —— 完整工程治理框架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109960" cy="841248"/>
          </a:xfrm>
          <a:prstGeom prst="roundRect">
            <a:avLst>
              <a:gd name="adj" fmla="val 86956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901952"/>
            <a:ext cx="420624" cy="42062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920240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801368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AIOS 内核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0" y="1801368"/>
            <a:ext cx="5989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 + Cognition + Execution + Context + Memory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624328"/>
            <a:ext cx="11109960" cy="841248"/>
          </a:xfrm>
          <a:prstGeom prst="roundRect">
            <a:avLst>
              <a:gd name="adj" fmla="val 86956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2834640"/>
            <a:ext cx="420624" cy="42062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852928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734056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角色式 Agent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0" y="2734056"/>
            <a:ext cx="5989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按角色（Manager/Coder/Reviewer…）而非按工具定义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557016"/>
            <a:ext cx="11109960" cy="841248"/>
          </a:xfrm>
          <a:prstGeom prst="roundRect">
            <a:avLst>
              <a:gd name="adj" fmla="val 86956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767328"/>
            <a:ext cx="420624" cy="42062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785616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666744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Governance 协议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3666744"/>
            <a:ext cx="5989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明确「AI 不可以做什么」的边界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489704"/>
            <a:ext cx="11109960" cy="841248"/>
          </a:xfrm>
          <a:prstGeom prst="roundRect">
            <a:avLst>
              <a:gd name="adj" fmla="val 86956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700016"/>
            <a:ext cx="420624" cy="42062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718304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4599432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🔁 可靠执行闭环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0" y="4599432"/>
            <a:ext cx="5989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→ Impact → Execute → Reflect → Verify → Repair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422392"/>
            <a:ext cx="11109960" cy="841248"/>
          </a:xfrm>
          <a:prstGeom prst="roundRect">
            <a:avLst>
              <a:gd name="adj" fmla="val 86956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5632704"/>
            <a:ext cx="420624" cy="42062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5650992"/>
            <a:ext cx="420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5532120"/>
            <a:ext cx="4023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评估体系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0" y="5532120"/>
            <a:ext cx="5989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 / 返工 / token / 模型对比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整体架构：kit 布局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自身就是 kit 布局（自举 / dogfood）——升级 = 整体替换 kit/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1109960" cy="4114800"/>
          </a:xfrm>
          <a:prstGeom prst="roundRect">
            <a:avLst>
              <a:gd name="adj" fmla="val 133333"/>
            </a:avLst>
          </a:prstGeom>
          <a:solidFill>
            <a:srgbClr val="0D1526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01368"/>
            <a:ext cx="10744200" cy="38953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       项目入口（25+ AI 工具原生读取）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kit/aios/        AIOS 内核：governance / cognition / execution / context / memory / policy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kit/agents/      7 个角色定义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kit/profiles/    项目类型模板（backend/game-server/unity/unreal/frontend/data/design/novel）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kit/knowledge/   项目知识图谱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kit/cli/         统一控制入口（task / mkproject / persona / protect / sandbox…）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kit/evaluation/  质量评估体系</a:t>
            </a:r>
            <a:endParaRPr lang="en-US" sz="12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runtime/         文件即数据库：任务/状态/验证/审查全在文件系统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943600"/>
            <a:ext cx="11109960" cy="685800"/>
          </a:xfrm>
          <a:prstGeom prst="roundRect">
            <a:avLst>
              <a:gd name="adj" fmla="val 1066667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6053328"/>
            <a:ext cx="10725912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「文件即数据库」——所有协作状态零依赖、可移植。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治理层：AI 不可以做什么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治理先于执行——任何 AI 动作前先过 governance 检查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325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协议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task-policy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任务状态机；分级治理 fast-path；返工上限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modification-policy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目录可写/禁写；高风险文件分级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security-policy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Rule of Two；密钥不进提示词；训练退出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risk-policy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风险分级 P0-P3 与审批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roadmap-policy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路线图唯一权威与变更控制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风险分级与权限模型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治理强度随风险分级，不搞一刀切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2606040" cy="1371600"/>
          </a:xfrm>
          <a:prstGeom prst="roundRect">
            <a:avLst>
              <a:gd name="adj" fmla="val 533333"/>
            </a:avLst>
          </a:prstGeom>
          <a:solidFill>
            <a:srgbClr val="1A2740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019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🔴 P0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3591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/ 支付 / auth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必须人工批准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783080"/>
            <a:ext cx="2606040" cy="1371600"/>
          </a:xfrm>
          <a:prstGeom prst="roundRect">
            <a:avLst>
              <a:gd name="adj" fmla="val 533333"/>
            </a:avLst>
          </a:prstGeom>
          <a:solidFill>
            <a:srgbClr val="1A274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9019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🟡 P1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23591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契约 / CI 配置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20440" y="2743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reviewer 审查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606040" cy="1371600"/>
          </a:xfrm>
          <a:prstGeom prst="roundRect">
            <a:avLst>
              <a:gd name="adj" fmla="val 533333"/>
            </a:avLst>
          </a:prstGeom>
          <a:solidFill>
            <a:srgbClr val="1A274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9019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🟢 P2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55080" y="23591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常规修改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743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常规流程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1783080"/>
            <a:ext cx="2606040" cy="1371600"/>
          </a:xfrm>
          <a:prstGeom prst="roundRect">
            <a:avLst>
              <a:gd name="adj" fmla="val 533333"/>
            </a:avLst>
          </a:prstGeom>
          <a:solidFill>
            <a:srgbClr val="1A2740"/>
          </a:solidFill>
          <a:ln w="19050">
            <a:solidFill>
              <a:srgbClr val="8CA3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0" y="190195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⚪ P3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189720" y="2359152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89720" y="2743200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fast-path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11109960" cy="1005840"/>
          </a:xfrm>
          <a:prstGeom prst="roundRect">
            <a:avLst>
              <a:gd name="adj" fmla="val 727273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474720"/>
            <a:ext cx="64008" cy="10058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566160"/>
            <a:ext cx="10744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自动升级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9808" y="3950208"/>
            <a:ext cx="10725912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改动 &gt;5 文件 / 跨 &gt;2 模块 / 多语言 / 有未解决依赖 → 风险自动升一级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11109960" cy="1508760"/>
          </a:xfrm>
          <a:prstGeom prst="roundRect">
            <a:avLst>
              <a:gd name="adj" fmla="val 484848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663440"/>
            <a:ext cx="64008" cy="15087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754880"/>
            <a:ext cx="10744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修改权限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49808" y="5138928"/>
            <a:ext cx="10725912" cy="9418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generated_dirs 禁写（改生成代码 = 改规格 → 重新生成）；只有 source_dirs 可写；protect 用 chmod 机械锁目录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执行闭环（Reliable Execution Loop）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验证是流程的一部分，不是 AI 的自觉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66160" y="1600200"/>
            <a:ext cx="5029200" cy="777240"/>
          </a:xfrm>
          <a:prstGeom prst="roundRect">
            <a:avLst>
              <a:gd name="adj" fmla="val 941176"/>
            </a:avLst>
          </a:prstGeom>
          <a:solidFill>
            <a:srgbClr val="16223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645920"/>
            <a:ext cx="5029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§0 启动分流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改规格？→ SDD 分支 / 否则通用路径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377440"/>
            <a:ext cx="0" cy="41148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46120"/>
            <a:ext cx="1572768" cy="1051560"/>
          </a:xfrm>
          <a:prstGeom prst="roundRect">
            <a:avLst>
              <a:gd name="adj" fmla="val 695652"/>
            </a:avLst>
          </a:prstGeom>
          <a:solidFill>
            <a:srgbClr val="1A2740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35584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" y="3703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130552" y="3657600"/>
            <a:ext cx="256032" cy="274320"/>
          </a:xfrm>
          <a:prstGeom prst="rightArrow">
            <a:avLst/>
          </a:prstGeom>
          <a:solidFill>
            <a:srgbClr val="2432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395728" y="3246120"/>
            <a:ext cx="1572768" cy="1051560"/>
          </a:xfrm>
          <a:prstGeom prst="roundRect">
            <a:avLst>
              <a:gd name="adj" fmla="val 695652"/>
            </a:avLst>
          </a:prstGeom>
          <a:solidFill>
            <a:srgbClr val="1A27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95728" y="335584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50592" y="3703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Impact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77640" y="3657600"/>
            <a:ext cx="256032" cy="274320"/>
          </a:xfrm>
          <a:prstGeom prst="rightArrow">
            <a:avLst/>
          </a:prstGeom>
          <a:solidFill>
            <a:srgbClr val="24324A"/>
          </a:solidFill>
          <a:ln/>
        </p:spPr>
      </p:sp>
      <p:sp>
        <p:nvSpPr>
          <p:cNvPr id="19" name="Shape 17"/>
          <p:cNvSpPr/>
          <p:nvPr/>
        </p:nvSpPr>
        <p:spPr>
          <a:xfrm>
            <a:off x="4242816" y="3246120"/>
            <a:ext cx="1572768" cy="1051560"/>
          </a:xfrm>
          <a:prstGeom prst="roundRect">
            <a:avLst>
              <a:gd name="adj" fmla="val 695652"/>
            </a:avLst>
          </a:prstGeom>
          <a:solidFill>
            <a:srgbClr val="1A274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2816" y="335584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3703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24728" y="3657600"/>
            <a:ext cx="256032" cy="274320"/>
          </a:xfrm>
          <a:prstGeom prst="rightArrow">
            <a:avLst/>
          </a:prstGeom>
          <a:solidFill>
            <a:srgbClr val="24324A"/>
          </a:solidFill>
          <a:ln/>
        </p:spPr>
      </p:sp>
      <p:sp>
        <p:nvSpPr>
          <p:cNvPr id="23" name="Shape 21"/>
          <p:cNvSpPr/>
          <p:nvPr/>
        </p:nvSpPr>
        <p:spPr>
          <a:xfrm>
            <a:off x="6089904" y="3246120"/>
            <a:ext cx="1572768" cy="1051560"/>
          </a:xfrm>
          <a:prstGeom prst="roundRect">
            <a:avLst>
              <a:gd name="adj" fmla="val 695652"/>
            </a:avLst>
          </a:prstGeom>
          <a:solidFill>
            <a:srgbClr val="1A274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9904" y="335584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44768" y="3703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Reflect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71816" y="3657600"/>
            <a:ext cx="256032" cy="274320"/>
          </a:xfrm>
          <a:prstGeom prst="rightArrow">
            <a:avLst/>
          </a:prstGeom>
          <a:solidFill>
            <a:srgbClr val="24324A"/>
          </a:solidFill>
          <a:ln/>
        </p:spPr>
      </p:sp>
      <p:sp>
        <p:nvSpPr>
          <p:cNvPr id="27" name="Shape 25"/>
          <p:cNvSpPr/>
          <p:nvPr/>
        </p:nvSpPr>
        <p:spPr>
          <a:xfrm>
            <a:off x="7936992" y="3246120"/>
            <a:ext cx="1572768" cy="1051560"/>
          </a:xfrm>
          <a:prstGeom prst="roundRect">
            <a:avLst>
              <a:gd name="adj" fmla="val 695652"/>
            </a:avLst>
          </a:prstGeom>
          <a:solidFill>
            <a:srgbClr val="1A2740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36992" y="335584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91856" y="3703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Verify 机械强制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518904" y="3657600"/>
            <a:ext cx="256032" cy="274320"/>
          </a:xfrm>
          <a:prstGeom prst="rightArrow">
            <a:avLst/>
          </a:prstGeom>
          <a:solidFill>
            <a:srgbClr val="24324A"/>
          </a:solidFill>
          <a:ln/>
        </p:spPr>
      </p:sp>
      <p:sp>
        <p:nvSpPr>
          <p:cNvPr id="31" name="Shape 29"/>
          <p:cNvSpPr/>
          <p:nvPr/>
        </p:nvSpPr>
        <p:spPr>
          <a:xfrm>
            <a:off x="9784080" y="3246120"/>
            <a:ext cx="1572768" cy="1051560"/>
          </a:xfrm>
          <a:prstGeom prst="roundRect">
            <a:avLst>
              <a:gd name="adj" fmla="val 695652"/>
            </a:avLst>
          </a:prstGeom>
          <a:solidFill>
            <a:srgbClr val="1A274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84080" y="335584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38944" y="3703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Repair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080760" y="2788920"/>
            <a:ext cx="0" cy="457200"/>
          </a:xfrm>
          <a:prstGeom prst="line">
            <a:avLst/>
          </a:prstGeom>
          <a:noFill/>
          <a:ln w="19050">
            <a:solidFill>
              <a:srgbClr val="8CA3C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548640" y="4709160"/>
            <a:ext cx="11109960" cy="1463040"/>
          </a:xfrm>
          <a:prstGeom prst="roundRect">
            <a:avLst>
              <a:gd name="adj" fmla="val 500000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4709160"/>
            <a:ext cx="64008" cy="14630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4800600"/>
            <a:ext cx="10744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49808" y="5184648"/>
            <a:ext cx="10725912" cy="896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§5 Verify 机械强制：build / lint / test / check 真跑，cli/task verify 通过才写 VERIFY 记录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§6 Repair：返工上限 3 次，超限人工介入（不无限烧循环）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SDD 规格驱动开发（可选详讲）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规格是唯一真相，规格变更先于实现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520440" cy="1005840"/>
          </a:xfrm>
          <a:prstGeom prst="roundRect">
            <a:avLst>
              <a:gd name="adj" fmla="val 727273"/>
            </a:avLst>
          </a:prstGeom>
          <a:solidFill>
            <a:srgbClr val="1A27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105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2402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契约 + 代码生成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20440" cy="1005840"/>
          </a:xfrm>
          <a:prstGeom prst="roundRect">
            <a:avLst>
              <a:gd name="adj" fmla="val 727273"/>
            </a:avLst>
          </a:prstGeom>
          <a:solidFill>
            <a:srgbClr val="1A27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8105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22402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/ 游戏客户端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1005840"/>
          </a:xfrm>
          <a:prstGeom prst="roundRect">
            <a:avLst>
              <a:gd name="adj" fmla="val 727273"/>
            </a:avLst>
          </a:prstGeom>
          <a:solidFill>
            <a:srgbClr val="1A27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8105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22402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 网游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520440" cy="822960"/>
          </a:xfrm>
          <a:prstGeom prst="roundRect">
            <a:avLst>
              <a:gd name="adj" fmla="val 888889"/>
            </a:avLst>
          </a:prstGeom>
          <a:solidFill>
            <a:srgbClr val="1A2740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729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/ A' / A"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103120" y="31729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规格变更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43400" y="3063240"/>
            <a:ext cx="3520440" cy="822960"/>
          </a:xfrm>
          <a:prstGeom prst="roundRect">
            <a:avLst>
              <a:gd name="adj" fmla="val 888889"/>
            </a:avLst>
          </a:prstGeom>
          <a:solidFill>
            <a:srgbClr val="1A2740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31729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897880" y="31729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逻辑修改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8160" y="3063240"/>
            <a:ext cx="3520440" cy="822960"/>
          </a:xfrm>
          <a:prstGeom prst="roundRect">
            <a:avLst>
              <a:gd name="adj" fmla="val 888889"/>
            </a:avLst>
          </a:prstGeom>
          <a:solidFill>
            <a:srgbClr val="1A2740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3172968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92640" y="31729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 修复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206240"/>
            <a:ext cx="11109960" cy="1920240"/>
          </a:xfrm>
          <a:prstGeom prst="roundRect">
            <a:avLst>
              <a:gd name="adj" fmla="val 380952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206240"/>
            <a:ext cx="64008" cy="19202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297680"/>
            <a:ext cx="10744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核心约束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9808" y="4681728"/>
            <a:ext cx="10725912" cy="13533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规格是唯一真相（single source of truth）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生成代码不可手动编辑（改规格 → 重新生成）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变更先于实现：先改规格，再实现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判断不清时按规格影响处理并在 TASK 记录假设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角色体系：按角色而非工具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新问题：Coder 角色需要什么能力？  旧问题：Claude 能做什么？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4754880"/>
                <a:gridCol w="1234440"/>
                <a:gridCol w="34290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写代码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关键约束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Manager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任务分派、进度跟踪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只管流程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Analyst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需求分析、影响评估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不明不写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Architect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架构决策、技术选型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ADR 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Coder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按计划实现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必须过 verify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Reviewer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代码审查、安全检查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生成者 ≠ 审查者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测试编写执行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✅(测试)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测试先行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Researcher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外部检索、知识录入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 knowledge/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394960"/>
            <a:ext cx="1110996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5504688"/>
            <a:ext cx="10725912" cy="758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 AI 工具（Codex / Gemini CLI / Qwen Code…）不断出现 —— 按角色定义，无需为每个工具写适配器。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机械强制层：四道墙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规则写在文档里是建议，写在文件系统 / Git / CI 里才是纪律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10996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45920"/>
            <a:ext cx="64008" cy="9601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75564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进程沙箱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1755648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sandbox-run（无网络容器）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092440" y="175564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挡：Rule of Two：敏感数据不可外传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1110996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97480"/>
            <a:ext cx="64008" cy="9601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80720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文件权限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34640" y="2807208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protect（chmod 锁 generated_dirs）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92440" y="280720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挡：手动改生成代码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1110996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49040"/>
            <a:ext cx="64008" cy="960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85876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hook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834640" y="3858768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pre-commit / commit-msg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092440" y="385876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挡：无 TASK 引用、碰 generated_dirs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1110996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800600"/>
            <a:ext cx="64008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910328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834640" y="4910328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 verify.yml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092440" y="491032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挡：绕过本地 hook 也挡得住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897880"/>
            <a:ext cx="11109960" cy="685800"/>
          </a:xfrm>
          <a:prstGeom prst="roundRect">
            <a:avLst>
              <a:gd name="adj" fmla="val 1066667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6007608"/>
            <a:ext cx="10725912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 aibase 与一般 prompt 模板的本质区别——不靠 AI 自觉，靠系统强制。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工具箱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109960" cy="3931920"/>
          </a:xfrm>
          <a:prstGeom prst="roundRect">
            <a:avLst>
              <a:gd name="adj" fmla="val 139535"/>
            </a:avLst>
          </a:prstGeom>
          <a:solidFill>
            <a:srgbClr val="0D1526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01368"/>
            <a:ext cx="10744200" cy="37124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mkproject — 创建项目（--profile / --persona）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new | list | start | verify | review | approve | done — 任务生命周期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— 真实执行 build / lint / test / check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 list | use | off | show — 人格系统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/ protect / sandbox-run — 健康检查 / 锁目录 / 沙箱</a:t>
            </a:r>
            <a:endParaRPr lang="en-US" sz="13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autoloop-coder / autoloop-reviewer — 无人值守（实验性）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5486400" cy="384048"/>
          </a:xfrm>
          <a:prstGeom prst="roundRect">
            <a:avLst>
              <a:gd name="adj" fmla="val 1428571"/>
            </a:avLst>
          </a:prstGeom>
          <a:solidFill>
            <a:srgbClr val="1A274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79729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统一入口：kit/cli/（task / mkproject / persona …）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5806440"/>
            <a:ext cx="5440680" cy="384048"/>
          </a:xfrm>
          <a:prstGeom prst="roundRect">
            <a:avLst>
              <a:gd name="adj" fmla="val 1428571"/>
            </a:avLst>
          </a:prstGeom>
          <a:solidFill>
            <a:srgbClr val="1A2740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579729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机械强制：task verify 真跑命令，不靠手写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知识图谱（knowledge/）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最大的问题不是不会写代码，而是不知道系统关系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352044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196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architecture/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691640"/>
            <a:ext cx="352044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8196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19456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模块清单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2044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8196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dependencies/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75320" y="219456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依赖图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352044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1693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decisions/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29184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2788920"/>
            <a:ext cx="352044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91693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history/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329184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已知问题 / 技术债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2788920"/>
            <a:ext cx="352044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291693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glossary/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75320" y="329184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11109960" cy="1280160"/>
          </a:xfrm>
          <a:prstGeom prst="roundRect">
            <a:avLst>
              <a:gd name="adj" fmla="val 571429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114800"/>
            <a:ext cx="64008" cy="12801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4206240"/>
            <a:ext cx="10744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9808" y="4590288"/>
            <a:ext cx="10725912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invisible to the agent doesn't exist.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Module before change：改代码前先读对应模块知识。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评估体系（evaluation/）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不评估 = 不知道 AI 做得好不好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755648" cy="777240"/>
          </a:xfrm>
          <a:prstGeom prst="roundRect">
            <a:avLst>
              <a:gd name="adj" fmla="val 941176"/>
            </a:avLst>
          </a:prstGeom>
          <a:solidFill>
            <a:srgbClr val="1A2740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23160" y="1691640"/>
            <a:ext cx="1755648" cy="777240"/>
          </a:xfrm>
          <a:prstGeom prst="roundRect">
            <a:avLst>
              <a:gd name="adj" fmla="val 941176"/>
            </a:avLst>
          </a:prstGeom>
          <a:solidFill>
            <a:srgbClr val="1A2740"/>
          </a:solidFill>
          <a:ln w="1524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178308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返工次数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691640"/>
            <a:ext cx="1755648" cy="777240"/>
          </a:xfrm>
          <a:prstGeom prst="roundRect">
            <a:avLst>
              <a:gd name="adj" fmla="val 941176"/>
            </a:avLst>
          </a:prstGeom>
          <a:solidFill>
            <a:srgbClr val="1A2740"/>
          </a:solidFill>
          <a:ln w="1524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78308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Bug 率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691640"/>
            <a:ext cx="1755648" cy="777240"/>
          </a:xfrm>
          <a:prstGeom prst="roundRect">
            <a:avLst>
              <a:gd name="adj" fmla="val 941176"/>
            </a:avLst>
          </a:prstGeom>
          <a:solidFill>
            <a:srgbClr val="1A2740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78308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1755648" cy="777240"/>
          </a:xfrm>
          <a:prstGeom prst="roundRect">
            <a:avLst>
              <a:gd name="adj" fmla="val 941176"/>
            </a:avLst>
          </a:prstGeom>
          <a:solidFill>
            <a:srgbClr val="1A2740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78308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耗时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921240" y="1691640"/>
            <a:ext cx="1755648" cy="777240"/>
          </a:xfrm>
          <a:prstGeom prst="roundRect">
            <a:avLst>
              <a:gd name="adj" fmla="val 941176"/>
            </a:avLst>
          </a:prstGeom>
          <a:solidFill>
            <a:srgbClr val="1A2740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1240" y="178308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模型横向对比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11109960" cy="1234440"/>
          </a:xfrm>
          <a:prstGeom prst="roundRect">
            <a:avLst>
              <a:gd name="adj" fmla="val 592593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743200"/>
            <a:ext cx="64008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2834640"/>
            <a:ext cx="10744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3218688"/>
            <a:ext cx="10725912" cy="6675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任务关闭 → 记 metrics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验证失败 → 记 failures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 → 出报告（模型横向对比）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109960" cy="1828800"/>
          </a:xfrm>
          <a:prstGeom prst="roundRect">
            <a:avLst>
              <a:gd name="adj" fmla="val 400000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343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示例：同一任务 Claude Sonnet vs GPT-4o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846320"/>
            <a:ext cx="5029200" cy="1005840"/>
          </a:xfrm>
          <a:prstGeom prst="roundRect">
            <a:avLst>
              <a:gd name="adj" fmla="val 545455"/>
            </a:avLst>
          </a:prstGeom>
          <a:solidFill>
            <a:srgbClr val="16223A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9377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Sonnet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 92% · 返工 1 次 · 38K token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4846320"/>
            <a:ext cx="5029200" cy="1005840"/>
          </a:xfrm>
          <a:prstGeom prst="roundRect">
            <a:avLst>
              <a:gd name="adj" fmla="val 545455"/>
            </a:avLst>
          </a:prstGeom>
          <a:solidFill>
            <a:srgbClr val="1622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9377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GPT-4o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成功率 80% · 返工 3 次 · 52K token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人格系统（表达层设定）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人格只改语气，不改结论；治理纪律不变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109960" cy="1143000"/>
          </a:xfrm>
          <a:prstGeom prst="roundRect">
            <a:avLst>
              <a:gd name="adj" fmla="val 640000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45920"/>
            <a:ext cx="64008" cy="11430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737360"/>
            <a:ext cx="10744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 = 表达层设定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2121408"/>
            <a:ext cx="10725912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语气 / 修辞 / 叙事。绝不改变推理、结论、工程判断与治理纪律。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394960" cy="1143000"/>
          </a:xfrm>
          <a:prstGeom prst="roundRect">
            <a:avLst>
              <a:gd name="adj" fmla="val 640000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926080"/>
            <a:ext cx="6400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按需加载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3401568"/>
            <a:ext cx="5010912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personas/active.md 存在则激活；缺失则零加载（不占上下文）。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926080"/>
            <a:ext cx="5394960" cy="1143000"/>
          </a:xfrm>
          <a:prstGeom prst="roundRect">
            <a:avLst>
              <a:gd name="adj" fmla="val 640000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926080"/>
            <a:ext cx="64008" cy="1143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30175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单源真相 + 薄壳指路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64808" y="3401568"/>
            <a:ext cx="5010912" cy="5760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人格库 50+；工具薄壳只指路，不重复内容，避免双源漂移。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1109960" cy="1371600"/>
          </a:xfrm>
          <a:prstGeom prst="roundRect">
            <a:avLst>
              <a:gd name="adj" fmla="val 533333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206240"/>
            <a:ext cx="64008" cy="13716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297680"/>
            <a:ext cx="10744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随时去人格化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4681728"/>
            <a:ext cx="10725912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「严谨模式」可随时切换；切换：kit/cli/persona list | use | off | show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5486400" cy="384048"/>
          </a:xfrm>
          <a:prstGeom prst="roundRect">
            <a:avLst>
              <a:gd name="adj" fmla="val 1428571"/>
            </a:avLst>
          </a:prstGeom>
          <a:solidFill>
            <a:srgbClr val="1A274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797296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人格是表达层，不是行为层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5806440"/>
            <a:ext cx="5440680" cy="384048"/>
          </a:xfrm>
          <a:prstGeom prst="roundRect">
            <a:avLst>
              <a:gd name="adj" fmla="val 1428571"/>
            </a:avLst>
          </a:prstGeom>
          <a:solidFill>
            <a:srgbClr val="1A2740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5797296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工程判断永远优先于语气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快速上手（5 分钟 Demo）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1109960" cy="4023360"/>
          </a:xfrm>
          <a:prstGeom prst="roundRect">
            <a:avLst>
              <a:gd name="adj" fmla="val 136364"/>
            </a:avLst>
          </a:prstGeom>
          <a:solidFill>
            <a:srgbClr val="0D1526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09928"/>
            <a:ext cx="10744200" cy="38039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&lt;aibase&gt; /tmp/framework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/tmp/framework/kit/cli/mkproject ~/code/my-project --profile backend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kit/cli/protect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kit/cli/task new "实现用户登录" --priority P1 --reviewer claude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kit/cli/task start TASK-001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kit/cli/task verify TASK-001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kit/cli/task review TASK-001</a:t>
            </a:r>
            <a:endParaRPr lang="en-US" sz="135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kit/cli/task approve TASK-001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5806440"/>
            <a:ext cx="11109960" cy="731520"/>
          </a:xfrm>
          <a:prstGeom prst="roundRect">
            <a:avLst>
              <a:gd name="adj" fmla="val 1000000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5916168"/>
            <a:ext cx="10725912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重点：verify 是「真跑命令」（build/lint/test/check），不是手写记录。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实际应用：dogfood 实证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框架自己就是自己的第一个用户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5486400" cy="1371600"/>
          </a:xfrm>
          <a:prstGeom prst="roundRect">
            <a:avLst>
              <a:gd name="adj" fmla="val 533333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45920"/>
            <a:ext cx="64008" cy="13716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737360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自举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" y="2121408"/>
            <a:ext cx="5102352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自身即 kit 布局；62 个 TASK，任务 / 审查 / 验证记录齐全（runtime/tasks + verification/ + reviews/）。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645920"/>
            <a:ext cx="5394960" cy="1371600"/>
          </a:xfrm>
          <a:prstGeom prst="roundRect">
            <a:avLst>
              <a:gd name="adj" fmla="val 533333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45920"/>
            <a:ext cx="64008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64808" y="17373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已注册项目（aimonitor 监控）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64808" y="2121408"/>
            <a:ext cx="5010912" cy="8046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aimonitor / aibase / westhill / x1design / account-1 / baseline / x1prototype / hb-share-*（10 个，含远程 Windows/Linux）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109960" cy="685800"/>
          </a:xfrm>
          <a:prstGeom prst="roundRect">
            <a:avLst>
              <a:gd name="adj" fmla="val 800000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91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cli/task list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32918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任务全景：状态、分级、耗时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11109960" cy="685800"/>
          </a:xfrm>
          <a:prstGeom prst="roundRect">
            <a:avLst>
              <a:gd name="adj" fmla="val 800000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0690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记录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40690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生成者 ≠ 审查者，可审计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109960" cy="685800"/>
          </a:xfrm>
          <a:prstGeom prst="roundRect">
            <a:avLst>
              <a:gd name="adj" fmla="val 800000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846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记录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48463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build/lint/test/check 真跑证据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532120"/>
            <a:ext cx="11109960" cy="685800"/>
          </a:xfrm>
          <a:prstGeom prst="roundRect">
            <a:avLst>
              <a:gd name="adj" fmla="val 800000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6235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autoloop 心跳日志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56235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无人值守循环运行轨迹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aimonitor：框架造出的第一个成品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一个实时监控多个 AI 项目的仪表盘，也是框架设计的「活体验证」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200400" cy="914400"/>
          </a:xfrm>
          <a:prstGeom prst="roundRect">
            <a:avLst>
              <a:gd name="adj" fmla="val 800000"/>
            </a:avLst>
          </a:prstGeom>
          <a:solidFill>
            <a:srgbClr val="1A2740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556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被监控项目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2157984"/>
            <a:ext cx="2980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runtime/ 文件即数据库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1965960"/>
            <a:ext cx="402336" cy="274320"/>
          </a:xfrm>
          <a:prstGeom prst="rightArrow">
            <a:avLst/>
          </a:prstGeom>
          <a:solidFill>
            <a:srgbClr val="2432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1960" y="1645920"/>
            <a:ext cx="3200400" cy="914400"/>
          </a:xfrm>
          <a:prstGeom prst="roundRect">
            <a:avLst>
              <a:gd name="adj" fmla="val 800000"/>
            </a:avLst>
          </a:prstGeom>
          <a:solidFill>
            <a:srgbClr val="1A2740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7556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61688" y="2157984"/>
            <a:ext cx="2980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直读 / agent 推送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1965960"/>
            <a:ext cx="402336" cy="274320"/>
          </a:xfrm>
          <a:prstGeom prst="rightArrow">
            <a:avLst/>
          </a:prstGeom>
          <a:solidFill>
            <a:srgbClr val="24324A"/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1645920"/>
            <a:ext cx="3200400" cy="914400"/>
          </a:xfrm>
          <a:prstGeom prst="roundRect">
            <a:avLst>
              <a:gd name="adj" fmla="val 800000"/>
            </a:avLst>
          </a:prstGeom>
          <a:solidFill>
            <a:srgbClr val="1A274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17556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aimonitor 仪表盘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65008" y="2157984"/>
            <a:ext cx="2980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http://localhost:3113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2788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它证明了四件事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5394960" cy="1051560"/>
          </a:xfrm>
          <a:prstGeom prst="roundRect">
            <a:avLst>
              <a:gd name="adj" fmla="val 695652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200400"/>
            <a:ext cx="64008" cy="10515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框架能造出真成品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3657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有前后端 + 多机部署 + 运维手册 + 注册审批流程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200400"/>
            <a:ext cx="5394960" cy="1051560"/>
          </a:xfrm>
          <a:prstGeom prst="roundRect">
            <a:avLst>
              <a:gd name="adj" fmla="val 695652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200400"/>
            <a:ext cx="64008" cy="1051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464808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「文件即数据库」被真实消费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64808" y="36576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读的正是 runtime/ 里的任务、心跳、事件流、VERIFY/REVIEW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370832"/>
            <a:ext cx="5394960" cy="1051560"/>
          </a:xfrm>
          <a:prstGeom prst="roundRect">
            <a:avLst>
              <a:gd name="adj" fmla="val 695652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370832"/>
            <a:ext cx="64008" cy="10515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462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跨项目协作不是画饼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" y="48280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同时监控 10 个 AIOS 项目（含远程 Windows/Linux）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370832"/>
            <a:ext cx="5394960" cy="1051560"/>
          </a:xfrm>
          <a:prstGeom prst="roundRect">
            <a:avLst>
              <a:gd name="adj" fmla="val 695652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4370832"/>
            <a:ext cx="64008" cy="1051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4" name="Text 32"/>
          <p:cNvSpPr/>
          <p:nvPr/>
        </p:nvSpPr>
        <p:spPr>
          <a:xfrm>
            <a:off x="6464808" y="44622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零依赖哲学可行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64808" y="482803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3.12 标准库 + 手写前端，无 node_modules/pip 依赖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870448"/>
            <a:ext cx="11109960" cy="566928"/>
          </a:xfrm>
          <a:prstGeom prst="roundRect">
            <a:avLst>
              <a:gd name="adj" fmla="val 967742"/>
            </a:avLst>
          </a:prstGeom>
          <a:solidFill>
            <a:srgbClr val="0E2038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92531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彩蛋：它自己也是用这套框架开发的 —— 66 个 TASK + MONITOR-SPEC 规格驱动。先别问框架能不能做好软件——它已经做好了一个。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演进路线：从单项目自动到跨项目流水线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负责跑，人负责定方向、批风险、验收果——全自动是手段，可靠是目的</a:t>
            </a:r>
            <a:endParaRPr lang="en-US" sz="14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03520"/>
                <a:gridCol w="30632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单项目自动闭环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autoloop coder+reviewer，P0/返工超限转人工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已实现（实验性）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多项目监控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agent 遥测 + aimonitor 仪表盘，心跳/告警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✅ 已实现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多项目自动调度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一个调度器读多项目 runtime/tasks/ 分配 coder/reviewer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🟡 架构已就绪，缺编排层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点子→成品流水线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跨项目 DAG + 阶段人工闸门 + 成品验收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🔵 愿景，需逐步验证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2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A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4023360"/>
            <a:ext cx="11109960" cy="2194560"/>
          </a:xfrm>
          <a:prstGeom prst="roundRect">
            <a:avLst>
              <a:gd name="adj" fmla="val 333333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4023360"/>
            <a:ext cx="64008" cy="21945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1" name="Text 8"/>
          <p:cNvSpPr/>
          <p:nvPr/>
        </p:nvSpPr>
        <p:spPr>
          <a:xfrm>
            <a:off x="749808" y="4114800"/>
            <a:ext cx="10744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已内建的人机分工点（讲信任/安全时展开）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49808" y="4498848"/>
            <a:ext cx="10725912" cy="1627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P0 风险操作 → 必须人工批准（approval-ref，否则 blocked）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返工 ≥3 次 → 机械拒绝，人工介入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卡死/阻塞 → task block + aimonitor 告警（blocked-ratio / stale-task）</a:t>
            </a:r>
            <a:endParaRPr lang="en-US" sz="120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成品验收 → 当前 verify 只验 build/lint/test/check，业务验收仍需人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与生态标准的关系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不是又一个孤立框架，是与标准生态对接的工程层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109960" cy="841248"/>
          </a:xfrm>
          <a:prstGeom prst="roundRect">
            <a:avLst>
              <a:gd name="adj" fmla="val 86956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45920"/>
            <a:ext cx="64008" cy="8412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73736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23360" y="1737360"/>
            <a:ext cx="74523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标准格式，25+ AI 工具原生接入，零配置（Claude Code 用 symlink）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109960" cy="841248"/>
          </a:xfrm>
          <a:prstGeom prst="roundRect">
            <a:avLst>
              <a:gd name="adj" fmla="val 86956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78608"/>
            <a:ext cx="64008" cy="8412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67004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AIOS（agiresearch）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23360" y="2670048"/>
            <a:ext cx="74523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设计理念同源（Governance/Context/Memory/Storage），作为文件级治理层独立实现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11109960" cy="841248"/>
          </a:xfrm>
          <a:prstGeom prst="roundRect">
            <a:avLst>
              <a:gd name="adj" fmla="val 86956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11296"/>
            <a:ext cx="64008" cy="8412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0273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023360" y="3602736"/>
            <a:ext cx="74523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tools/ 能力层可包装为 MCP server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43984"/>
            <a:ext cx="11109960" cy="841248"/>
          </a:xfrm>
          <a:prstGeom prst="roundRect">
            <a:avLst>
              <a:gd name="adj" fmla="val 86956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43984"/>
            <a:ext cx="64008" cy="84124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53542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23360" y="4535424"/>
            <a:ext cx="74523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agents/ 角色可通过 A2A 协议跨框架协作（远期）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376672"/>
            <a:ext cx="11109960" cy="841248"/>
          </a:xfrm>
          <a:prstGeom prst="roundRect">
            <a:avLst>
              <a:gd name="adj" fmla="val 86956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5376672"/>
            <a:ext cx="64008" cy="84124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46811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跨平台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023360" y="5468112"/>
            <a:ext cx="74523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Windows（PowerShell + python）/ Linux / macOS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 Q&amp;A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896112"/>
            <a:ext cx="1143000" cy="411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382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aibase · AIOS Framework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277295" y="6382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3C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 + 角色 + 闭环 + 机械强制 + 知识 + 评估 = 可靠 AI 工程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110996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488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6712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9659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不是「收到命令→执行」的助手，而是「理解→建模→规划→执行→验证→学习」的执行者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953512"/>
            <a:ext cx="1110996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227832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2461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044952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按角色而非工具定义；文件即数据库；治理先于执行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11109960" cy="960120"/>
          </a:xfrm>
          <a:prstGeom prst="roundRect">
            <a:avLst>
              <a:gd name="adj" fmla="val 761905"/>
            </a:avLst>
          </a:prstGeom>
          <a:solidFill>
            <a:srgbClr val="1A2740"/>
          </a:solidFill>
          <a:ln w="12700">
            <a:solidFill>
              <a:srgbClr val="2432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306824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325112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123944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自动化有护栏：低风险自动，高风险人审，超限升级人工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695652"/>
            </a:avLst>
          </a:prstGeom>
          <a:solidFill>
            <a:srgbClr val="0E2038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4924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 — 谢谢！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aibase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aibase — AI Agent Operating System + Reliable AI Engineering Framework</dc:title>
  <dc:subject>AIOS + Reliable AI Engineering Framework 介绍（20 页）</dc:subject>
  <dc:creator>hb</dc:creator>
  <cp:lastModifiedBy>hb</cp:lastModifiedBy>
  <cp:revision>1</cp:revision>
  <dcterms:created xsi:type="dcterms:W3CDTF">2026-08-28T07:55:41Z</dcterms:created>
  <dcterms:modified xsi:type="dcterms:W3CDTF">2026-08-28T07:55:41Z</dcterms:modified>
</cp:coreProperties>
</file>