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14255" y="-1280160"/>
            <a:ext cx="3840480" cy="384048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54335" y="-822960"/>
            <a:ext cx="2743200" cy="2743200"/>
          </a:xfrm>
          <a:prstGeom prst="ellipse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4846320"/>
            <a:ext cx="2926080" cy="29260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502920"/>
            <a:ext cx="219456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800" b="1" i="0">
                <a:solidFill>
                  <a:srgbClr val="F8FAFC"/>
                </a:solidFill>
                <a:latin typeface="Microsoft YaHei"/>
              </a:rPr>
              <a:t>aibase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Microsoft YaHei"/>
              </a:rPr>
              <a:t>AI Agent Operating System + Reliable AI Engineering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4A3B8"/>
                </a:solidFill>
                <a:latin typeface="Microsoft YaHei"/>
              </a:rPr>
              <a:t>让 AI 从「会写代码」到「可靠地做成事」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4297680"/>
            <a:ext cx="1572768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3425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AIOS 内核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78608" y="4297680"/>
            <a:ext cx="1572768" cy="4572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433425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角色式 Agent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8536" y="4297680"/>
            <a:ext cx="1572768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8536" y="433425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治理协议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98464" y="4297680"/>
            <a:ext cx="1572768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8464" y="433425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可靠执行闭环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08392" y="4297680"/>
            <a:ext cx="1572768" cy="45720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08392" y="4334256"/>
            <a:ext cx="1572768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评估体系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5257800"/>
            <a:ext cx="548640" cy="254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Microsoft YaHei"/>
              </a:rPr>
              <a:t>hb  ·  MIT License  ·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8978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2A3552"/>
                </a:solidFill>
                <a:latin typeface="Microsoft YaHei"/>
              </a:rPr>
              <a:t>「让 AI 干活，先给 AI 立规矩」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为什么需要它？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第一代 AI 模板假设「AI = 会读规则的助手」，2026 年的 AI agent 需要的是「操作系统」。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50800" cy="2029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第一代假设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502920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AI 工具 → 读规则 → 执行 → 完成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「AI 本质上是会读规则的助手」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82496"/>
            <a:ext cx="50800" cy="202996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6420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2026 现实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84832"/>
            <a:ext cx="502920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AI 已能自主规划、多步执行、调用工具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但没有治理约束时——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2834640" cy="9601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242816"/>
            <a:ext cx="50800" cy="70408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422452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✗ 乱改不该改的文件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645152"/>
            <a:ext cx="24688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生成目录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08960" y="4114800"/>
            <a:ext cx="2834640" cy="9601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08960" y="4242816"/>
            <a:ext cx="50800" cy="70408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10128" y="422452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✗ 忽略系统架构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0128" y="4645152"/>
            <a:ext cx="24688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不在上下文里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114800"/>
            <a:ext cx="2834640" cy="9601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242816"/>
            <a:ext cx="50800" cy="70408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22452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✗ 无法自评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4645152"/>
            <a:ext cx="24688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AI 不能审查自己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40" y="4114800"/>
            <a:ext cx="2834640" cy="9601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778240" y="4242816"/>
            <a:ext cx="50800" cy="70408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79408" y="4224528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✗ 失败无修复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79408" y="4645152"/>
            <a:ext cx="24688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验证挂了没人管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94960"/>
            <a:ext cx="11064240" cy="91440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Microsoft YaHei"/>
              </a:rPr>
              <a:t>结论：需要「AI 操作系统」—— 理解目标 → 建模 → 规划 → 执行 → 验证 → 学习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aibase 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不是「AI 配置模板」，是 AI Agent Operating System —— 完整工程治理框架。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03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291840"/>
                <a:gridCol w="70408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#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核心创新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🧠 AIOS 内核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Governance + Cognition + Execution + Context + Memory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🤖 角色式 Agent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按角色（Manager/Coder/Reviewer…）而非按工具定义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🔒 Governance 协议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明确「AI 不可以做什么」的边界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🔁 可靠执行闭环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Plan → Impact → Execute → Reflect → Verify → Repair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📊 评估体系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任务成功率 / 返工 / Token 消耗 / 模型对比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一句话：让 AI 从「收到命令就执行」变成「理解目标、可靠交付」的执行者。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整体架构 · kit 布局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aibase 自身就是 kit 布局（自举 / dogfood），升级 = 整体替换 kit/ 目录。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04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51790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AGENTS.md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51790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项目入口 —— 25+ AI 工具原生读取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02536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5740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kit/aios/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05740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AIOS 内核：governance / cognition / execution / context / memory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542032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9689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kit/agents/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596896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7 个角色定义（Manager / Coder / Reviewer…）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081528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136392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kit/profiles/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13639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项目类型模板：backend / game-server / unity / unreal / frontend / data…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621024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67588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kit/knowledge/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675888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项目知识图谱（架构 / 模块 / 依赖 / ADR / 术语）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60520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215384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kit/cli/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4215384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统一控制入口：task / mkproject / persona / protect / sandbox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700016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475488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kit/evaluation/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475488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质量评估体系（metrics / failures / reports / benchmarks）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239512"/>
            <a:ext cx="3017520" cy="475488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5294376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runtime/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94760" y="5294376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文件即数据库 —— 任务 / 状态 / 验证 / 审查全在文件系统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0" y="5943600"/>
            <a:ext cx="301752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0" y="5980176"/>
            <a:ext cx="301752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零依赖 · 可移植 · 文件即数据库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治理层 · AI 不可以做什么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治理先于执行 —— 任何 AI 动作前先过 governance 检查。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05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39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协议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管什么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task-policy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任务状态机 open→in-progress→in-review→done；分级治理 fast-path；返工上限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modification-policy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目录可写/禁写（generated_dirs 禁写）；高风险文件分级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security-policy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Rule of Two；密钥不进提示词；训练数据退出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risk-policy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风险分级 P0-P3 与审批条件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roadmap-policy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路线图唯一权威与变更控制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5778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59E0B"/>
                </a:solidFill>
                <a:latin typeface="Microsoft YaHei"/>
              </a:rPr>
              <a:t>金句：AI 最需要知道的不是「能做什么」，而是「不能做什么」。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风险分级与权限模型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治理强度随风险分级 —— 不搞一刀切。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278892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50800" cy="2029968"/>
          </a:xfrm>
          <a:prstGeom prst="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🔴 P0  不可逆 / 高影响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242316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数据库 schema · 支付 · 账号 · 权限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必须人工批准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1554480"/>
            <a:ext cx="278892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1682496"/>
            <a:ext cx="50800" cy="20299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166420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🟡 P1  可逆但需审查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084832"/>
            <a:ext cx="242316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API 契约 · 共享类型 · CI/CD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TASK 声明 + reviewer 审查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554480"/>
            <a:ext cx="278892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682496"/>
            <a:ext cx="50800" cy="20299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166420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🟢 P2  常规开发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084832"/>
            <a:ext cx="242316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业务逻辑 · UI · 测试 · 文档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TASK 追踪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1554480"/>
            <a:ext cx="2788920" cy="22860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1682496"/>
            <a:ext cx="50800" cy="2029968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8048" y="1664208"/>
            <a:ext cx="2423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⚪ P3  低风险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48" y="2084832"/>
            <a:ext cx="2423160" cy="1627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注释 · 格式 · 命名 · README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自由执行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114800"/>
            <a:ext cx="11064240" cy="9601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242816"/>
            <a:ext cx="50800" cy="7040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4224528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风险自动升级（任一条件触发 +1 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645152"/>
            <a:ext cx="10698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改动 &gt;5 文件   ·   跨 &gt;2 模块   ·   涉及 &gt;1 种语言   ·   存在未解决依赖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349240"/>
            <a:ext cx="11064240" cy="86868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修改权限：generated_dirs 禁写（改生成代码 = 改规格 → 重新生成）；只有 source_dirs 可写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执行闭环 · Reliable Execution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验证是流程的一部分，不是 AI 的自觉。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283464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53896"/>
            <a:ext cx="283464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§0 启动分流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46304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改契约 / 规格 / 生成源 / 跨端协议？ → 是：SDD 分支（规格先行）｜ 否：通用路径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322576"/>
            <a:ext cx="50800" cy="1161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§1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计划先行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67712" y="2697480"/>
            <a:ext cx="274320" cy="384048"/>
          </a:xfrm>
          <a:prstGeom prst="right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32304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32304" y="2322576"/>
            <a:ext cx="50800" cy="1161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§2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影响分析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151376" y="2697480"/>
            <a:ext cx="274320" cy="384048"/>
          </a:xfrm>
          <a:prstGeom prst="right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15968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2322576"/>
            <a:ext cx="50800" cy="1161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§3 Execute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按计划执行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035040" y="2697480"/>
            <a:ext cx="274320" cy="384048"/>
          </a:xfrm>
          <a:prstGeom prst="right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199632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2322576"/>
            <a:ext cx="50800" cy="116128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§4 Reflect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自省清单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918704" y="2697480"/>
            <a:ext cx="274320" cy="384048"/>
          </a:xfrm>
          <a:prstGeom prst="right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83296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83296" y="2322576"/>
            <a:ext cx="50800" cy="116128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84464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§5 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84464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机械强制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802368" y="2697480"/>
            <a:ext cx="274320" cy="384048"/>
          </a:xfrm>
          <a:prstGeom prst="rightArrow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966960" y="2194560"/>
            <a:ext cx="1700784" cy="14173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966960" y="2322576"/>
            <a:ext cx="50800" cy="11612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68128" y="2304288"/>
            <a:ext cx="13350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§6 Repair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68128" y="2724912"/>
            <a:ext cx="1335024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Microsoft YaHei"/>
              </a:rPr>
              <a:t>返工修复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931920"/>
            <a:ext cx="110642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§5 Verify 机械强制：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</a:rPr>
              <a:t>build / lint / test / check 真跑，cli/task verify 通过才写 VERIFY 记录（不是自证）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§6 Repair：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</a:rPr>
              <a:t>失败 → 根因分析 → 修复；返工上限 3 次，超限人工介入 —— 不无限烧循环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fast-path：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</a:rPr>
              <a:t>低风险任务可跳过部分仪式，但 verify 与 TASK 状态流转对任何任务不可省略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SDD 规格驱动开发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规格是唯一真相 —— 规格变更先于实现。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08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30352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三种项目形态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contract —— API 契约 + 代码生成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docs —— 工具 / 游戏客户端（文档即规格）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protocol —— CS 网游（客户端+服务器共同契约）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600" b="0">
                <a:solidFill>
                  <a:srgbClr val="94A3B8"/>
                </a:solidFill>
                <a:latin typeface="Microsoft YaHe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五个场景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A / A' / A" —— 规格变更（先改规格→校验→生成→实现）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B —— 仅逻辑修改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C —— Bug 修复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03520" cy="301752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82496"/>
            <a:ext cx="50800" cy="27614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64208"/>
            <a:ext cx="4937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核心约束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084832"/>
            <a:ext cx="4937760" cy="23591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规格是唯一真相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生成代码不可手动编辑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规格变更先于实现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验证是流程的一部分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Microsoft YaHei"/>
              </a:rPr>
              <a:t>任务可追踪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37760"/>
            <a:ext cx="11064240" cy="100584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07492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判断不清时 → 先按规格影响处理，并在 TASK 中记录假设。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角色体系 · 按角色而非工具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新范式：Coder 角色需要什么能力？ —— 而不是「Claude 能做什么？」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09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63440"/>
                <a:gridCol w="109728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角色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职责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写代码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关键约束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Manager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任务分派、进度跟踪、阻塞管理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只管流程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Analyst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需求分析、影响评估、假设管理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不明不写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Architect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架构决策、模块划分、技术选型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ADR 记录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Coder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按计划实现代码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✓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必须通过 verify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Reviewer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代码审查、安全检查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生成者 ≠ 审查者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Tester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测试编写与执行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✓(测试)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测试先行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Researcher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外部检索、知识录入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✗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写入 knowledge/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新 AI 工具（Codex / Gemini CLI / Qwen Code…）不断出现 —— 按角色定义，无需为每个工具写适配器。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机械强制层 · 四道墙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规则写在文档里是建议，写在文件系统 / Git / CI 里才是纪律。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10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754880"/>
                <a:gridCol w="41148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层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机制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挡什么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进程沙箱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sandbox-run（无网络容器）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Rule of Two：敏感数据不可外传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文件权限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protect（chmod 锁 generated_dirs 只读）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手动改生成代码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Git hook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pre-commit / commit-msg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无 TASK 引用的提交 · 碰 generated_dirs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CI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GitHub Actions verify.yml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绕过本地 hook 也挡得住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1206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Microsoft YaHei"/>
              </a:rPr>
              <a:t>这四道墙跟用 Claude Code、Cursor、pi 还是人手改代码无关 —— 都会经过文件系统、git、CI。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Microsoft YaHei"/>
              </a:rPr>
              <a:t>这是 aibase 与一般 prompt 模板的本质区别：不靠 AI 自觉，靠系统强制。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CLI 工具箱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统一控制入口：已自动化的流程有命令；未自动化的流程显式读写 Markdown 记录。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11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3108960" cy="4572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45336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mkproject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55448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用 kit 布局创建新项目（--profile / --persona）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075688"/>
            <a:ext cx="3108960" cy="457200"/>
          </a:xfrm>
          <a:prstGeom prst="round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112264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task new / list /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21408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任务生命周期管理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42616"/>
            <a:ext cx="3108960" cy="457200"/>
          </a:xfrm>
          <a:prstGeom prst="round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79192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task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2688336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真实执行 build / lint / test / check，通过才写 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09544"/>
            <a:ext cx="310896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246120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task review / approve / done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255264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审查与关闭（fast-path 可跳 review）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76472"/>
            <a:ext cx="31089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813048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persona list / use / 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822192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人格系统（表达层设定）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343400"/>
            <a:ext cx="3108960" cy="45720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379976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check / protect / sandbox-run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389120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健康检查 / 锁生成目录 / 无网络沙箱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910328"/>
            <a:ext cx="3108960" cy="457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946904"/>
            <a:ext cx="31089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8FAFC"/>
                </a:solidFill>
                <a:latin typeface="Microsoft YaHei"/>
              </a:rPr>
              <a:t>autoloop-coder / 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31920" y="4956048"/>
            <a:ext cx="76809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F8FAFC"/>
                </a:solidFill>
                <a:latin typeface="Microsoft YaHei"/>
              </a:rPr>
              <a:t>无人值守循环（实验性，隔离环境）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F87171"/>
                </a:solidFill>
                <a:latin typeface="Microsoft YaHei"/>
              </a:rPr>
              <a:t>⚠️ --unattended 会给 claude 传 --dangerously-skip-permissions —— 仅限隔离环境（容器 / worktree / 沙箱）。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知识图谱 · knowledge/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AI 最大的问题不是不会写代码，而是不知道系统关系。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12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50800" cy="14356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architecture/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系统架构设计（分层/模块/通信）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5544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682496"/>
            <a:ext cx="50800" cy="1435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6642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modules/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0848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模块清单：职责、依赖、入口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15544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1682496"/>
            <a:ext cx="50800" cy="1435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7" y="16642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dependencies/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7" y="20848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模块间依赖关系图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3832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511296"/>
            <a:ext cx="50800" cy="143560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4930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decisions/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9136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ADR —— 为什么这样设计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3832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3511296"/>
            <a:ext cx="50800" cy="14356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53128" y="34930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history/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53128" y="39136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已知问题、技术债、失败尝试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79" y="3383280"/>
            <a:ext cx="3520440" cy="169164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55279" y="3511296"/>
            <a:ext cx="50800" cy="14356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56447" y="3493008"/>
            <a:ext cx="3154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8FAFC"/>
                </a:solidFill>
                <a:latin typeface="Microsoft YaHei"/>
              </a:rPr>
              <a:t>glossary/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7" y="3913632"/>
            <a:ext cx="315468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Microsoft YaHei"/>
              </a:rPr>
              <a:t>领域术语表（统一语言）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49240"/>
            <a:ext cx="11064240" cy="91440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原则：Knowledge invisible to the agent doesn't exist.  ·  Module before change（改代码前先查模块文档）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评估体系 · evaluation/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不评估 = 不知道 AI 做得好不好。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13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640080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指标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记录位置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任务成功率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完成数 / 分配数；done 率；cancelled 率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metrics/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返工次数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in-review → in-progress 打回次数 / 任务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failures/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Bug 率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审查发现问题数 / 变更文件数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metrics/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Token 消耗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平均 token / 任务；超额 token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metrics/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耗时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平均 wall time / 任务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reports/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模型表现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按模型分类的成功率 / 失败原因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benchmarks/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4864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Microsoft YaHei"/>
              </a:rPr>
              <a:t>示例：同一任务 Claude Sonnet vs GPT-4o —— 横向对比模型能力。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人格系统 · 表达层设定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人格只改语气，不改结论 —— 治理纪律不变。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14 /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603504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表达层 ≠ 认知层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语气可以疯、可以妖、可以狂，结论必须准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600" b="0">
                <a:solidFill>
                  <a:srgbClr val="94A3B8"/>
                </a:solidFill>
                <a:latin typeface="Microsoft YaHe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按需加载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personas/active.md 存在则激活，缺失则零加载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600" b="0">
                <a:solidFill>
                  <a:srgbClr val="94A3B8"/>
                </a:solidFill>
                <a:latin typeface="Microsoft YaHe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单源真相 + 薄壳指路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人格内容唯一真相在人格库，各工具薄壳只指路不复制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600" b="0">
                <a:solidFill>
                  <a:srgbClr val="94A3B8"/>
                </a:solidFill>
                <a:latin typeface="Microsoft YaHei"/>
              </a:rPr>
              <a:t/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严谨模式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</a:rPr>
              <a:t>随时可去人格化，回归理性直白表达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554480"/>
            <a:ext cx="4663440" cy="36576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9440" y="1682496"/>
            <a:ext cx="50800" cy="34015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50608" y="1664208"/>
            <a:ext cx="42976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人格库（部分）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8" y="2084832"/>
            <a:ext cx="4297680" cy="2999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Microsoft YaHei"/>
              </a:rPr>
              <a:t>东方不败 · 曹操 · 孙悟空 · 林黛玉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Microsoft YaHei"/>
              </a:rPr>
              <a:t>福尔摩斯 · 蝙蝠侠 · 东方不败 · 哪吒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Microsoft YaHei"/>
              </a:rPr>
              <a:t>…… 50+ 人格待命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快速上手 · 5 分钟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从零到第一个任务，只需 8 条命令。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15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11064240" cy="402336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11064240" cy="4114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934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8FAFC"/>
                </a:solidFill>
                <a:latin typeface="Microsoft YaHei"/>
              </a:rPr>
              <a:t>Terminal — aibase quickstart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148840"/>
            <a:ext cx="105156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git clone &lt;aibase&gt; /tmp/framework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/tmp/framework/kit/cli/mkproject ~/code/my-project --profile backend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kit/cli/protect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kit/cli/task new "实现用户登录" --priority P1 --reviewer claude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kit/cli/task start TASK-001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kit/cli/task verify TASK-001   # 真跑 build/lint/test/check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kit/cli/task review TASK-001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50" b="0" i="0">
                <a:solidFill>
                  <a:srgbClr val="22D3EE"/>
                </a:solidFill>
                <a:latin typeface="Consolas"/>
              </a:rPr>
              <a:t>bash kit/cli/task approve TASK-001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59E0B"/>
                </a:solidFill>
                <a:latin typeface="Microsoft YaHei"/>
              </a:rPr>
              <a:t>重点：task verify 是「真跑命令」而不是手写记录 —— 通过才生成 VERIFY 记录。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实际应用 · dogfood 实证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框架自己就是自己的第一个用户。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16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5394960" cy="201168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50800" cy="175564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aibase 自举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502920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自身即 kit 布局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58 个 TASK —— 任务 / 审查 / 验证记录齐全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升级 = 整体替换 kit/ 目录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5394960" cy="201168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682496"/>
            <a:ext cx="50800" cy="17556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664208"/>
            <a:ext cx="5029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8FAFC"/>
                </a:solidFill>
                <a:latin typeface="Microsoft YaHei"/>
              </a:rPr>
              <a:t>已同步注册项目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084832"/>
            <a:ext cx="502920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aimonitor · account · baseline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x1-prototype · x1design · westhill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（6+ 个 AIOS 项目）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10642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5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500" b="1">
                <a:solidFill>
                  <a:srgbClr val="F8FAFC"/>
                </a:solidFill>
                <a:latin typeface="Microsoft YaHei"/>
              </a:rPr>
              <a:t>真实运行证据：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94A3B8"/>
                </a:solidFill>
                <a:latin typeface="Microsoft YaHei"/>
              </a:rPr>
              <a:t>cli/task list 状态机流转  ·  REVIEW 审查记录  ·  VERIFY 验证记录  ·  autoloop 心跳与事件流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400" b="0">
                <a:solidFill>
                  <a:srgbClr val="22D3EE"/>
                </a:solidFill>
                <a:latin typeface="Microsoft YaHei"/>
              </a:rPr>
              <a:t>aimonitor 正在实时监控这些项目 —— 下一步揭晓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aimonitor · 框架造出的第一个成品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实时监控多个 AI 项目的仪表盘，也是框架设计的「活体验证」。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17 /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54480"/>
            <a:ext cx="3291840" cy="18288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50800" cy="15727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66420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被监控项目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0848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7+ 个 AIOS 项目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runtime/ 文件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任务 · 心跳 · 事件 · VERIFY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950208" y="2331720"/>
            <a:ext cx="384048" cy="384048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34840" y="1554480"/>
            <a:ext cx="3291840" cy="18288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1682496"/>
            <a:ext cx="50800" cy="15727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008" y="166420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采集层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0848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local：直读文件系统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agent：遥测组件随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mkproject 自动分发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36408" y="2331720"/>
            <a:ext cx="384048" cy="384048"/>
          </a:xfrm>
          <a:prstGeom prst="rightArrow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554480"/>
            <a:ext cx="3291840" cy="18288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1682496"/>
            <a:ext cx="50800" cy="15727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664208"/>
            <a:ext cx="2926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8FAFC"/>
                </a:solidFill>
                <a:latin typeface="Microsoft YaHei"/>
              </a:rPr>
              <a:t>aimonitor 仪表盘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2084832"/>
            <a:ext cx="292608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网页实时展示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任务全景 · 心跳存活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Microsoft YaHei"/>
              </a:rPr>
              <a:t>事件流 · 验证审查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657600"/>
            <a:ext cx="2697480" cy="13716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785616"/>
            <a:ext cx="50800" cy="111556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376732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① 能造真成品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187952"/>
            <a:ext cx="23317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Microsoft YaHei"/>
              </a:rPr>
              <a:t>前后端 + 多机部署 + 运维手册 + 注册审批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3657600"/>
            <a:ext cx="2697480" cy="13716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3785616"/>
            <a:ext cx="50800" cy="111556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376732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② 文件即数据库被消费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4187952"/>
            <a:ext cx="23317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Microsoft YaHei"/>
              </a:rPr>
              <a:t>读的正是 runtime/ 里的全部产物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57600"/>
            <a:ext cx="2697480" cy="13716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3785616"/>
            <a:ext cx="50800" cy="111556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6732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③ 跨项目已运行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187952"/>
            <a:ext cx="23317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Microsoft YaHei"/>
              </a:rPr>
              <a:t>监控 7+ 项目，含远程 Windows/Linux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3657600"/>
            <a:ext cx="2697480" cy="1371600"/>
          </a:xfrm>
          <a:prstGeom prst="roundRect">
            <a:avLst/>
          </a:prstGeom>
          <a:solidFill>
            <a:srgbClr val="162038"/>
          </a:solidFill>
          <a:ln w="12700">
            <a:solidFill>
              <a:srgbClr val="2A3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52560" y="3785616"/>
            <a:ext cx="50800" cy="11155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53728" y="3767328"/>
            <a:ext cx="23317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F8FAFC"/>
                </a:solidFill>
                <a:latin typeface="Microsoft YaHei"/>
              </a:rPr>
              <a:t>④ 零依赖可行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53728" y="4187952"/>
            <a:ext cx="233172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Microsoft YaHei"/>
              </a:rPr>
              <a:t>Python 标准库 + 手写前端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1B2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39496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59E0B"/>
                </a:solidFill>
                <a:latin typeface="Microsoft YaHei"/>
              </a:rPr>
              <a:t>彩蛋：它自己也是用这套框架开发的 —— 69 个 TASK + MONITOR-SPEC 规格驱动。既是框架的产品，也是框架的镜子。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演进路线 · 从单项目自动到跨项目流水线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AI 负责跑，人负责定方向、批风险、验收果。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18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4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6035040"/>
                <a:gridCol w="21031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阶段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现状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① 单项目自动闭环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autoloop coder+reviewer；P0/返工超限转人工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✅ 已实现（实验性）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② 多项目监控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agent 遥测 + aimonitor 仪表盘；心跳/告警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✅ 已实现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③ 多项目自动调度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调度器读多项目 runtime/tasks/ 分配 coder/reviewer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🟡 架构就绪，缺编排层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④ 点子→成品流水线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跨项目 DAG + 阶段人工闸门 + 成品验收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🔵 愿景，需逐步验证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709160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400" b="1">
                <a:solidFill>
                  <a:srgbClr val="F8FAFC"/>
                </a:solidFill>
                <a:latin typeface="Microsoft YaHei"/>
              </a:rPr>
              <a:t>已内建的人机分工点：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</a:rPr>
              <a:t>P0 风险操作 → 必须人工批准（否则 blocked）  ·  返工 ≥3 次 → 机械拒绝  ·  卡死/阻塞 → task block + 告警  ·  成品验收仍需人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与生态标准的关系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987552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Microsoft YaHei"/>
              </a:rPr>
              <a:t>不是又一个孤立框架，是与标准生态对接的工程层。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19 / 20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554480"/>
          <a:ext cx="1106423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95527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标准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Microsoft YaHei"/>
                        </a:rPr>
                        <a:t>关系</a:t>
                      </a:r>
                    </a:p>
                  </a:txBody>
                  <a:tcPr marT="38100" marB="38100" anchor="ctr">
                    <a:solidFill>
                      <a:srgbClr val="6366F1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AGENTS.md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标准格式，25+ AI 工具原生接入，零配置（Claude Code 用 symlink）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AIOS (agiresearch)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设计理念同源（Governance/Context/Memory/Storage），作为文件级治理层独立实现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MCP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kit/tools/ 能力层可包装为 MCP server，agent 通过标准协议调用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A2A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kit/agents/ 角色可通过 A2A 协议跨框架协作（远期）</a:t>
                      </a:r>
                    </a:p>
                  </a:txBody>
                  <a:tcPr marT="38100" marB="38100" anchor="ctr">
                    <a:solidFill>
                      <a:srgbClr val="1B243B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跨平台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F8FAFC"/>
                          </a:solidFill>
                          <a:latin typeface="Microsoft YaHei"/>
                        </a:rPr>
                        <a:t>Windows（PowerShell + python）/ Linux / macOS</a:t>
                      </a:r>
                    </a:p>
                  </a:txBody>
                  <a:tcPr marT="38100" marB="38100" anchor="ctr">
                    <a:solidFill>
                      <a:srgbClr val="16203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Microsoft YaHei"/>
              </a:rPr>
              <a:t>所有命令零网络依赖（autoloop-* 例外）—— 框架本身不吃云、不锁厂商。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02336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F8FAFC"/>
                </a:solidFill>
                <a:latin typeface="Microsoft YaHei"/>
              </a:rPr>
              <a:t>总结 · 可靠 AI 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309360"/>
            <a:ext cx="11094415" cy="12700"/>
          </a:xfrm>
          <a:prstGeom prst="rect">
            <a:avLst/>
          </a:prstGeom>
          <a:solidFill>
            <a:srgbClr val="2A3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77295" y="411480"/>
            <a:ext cx="256032" cy="25603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24767" y="57607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11535" y="63825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Microsoft YaHei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Microsoft YaHei"/>
              </a:rPr>
              <a:t>治理 + 角色 + 闭环 + 机械强制 + 知识 + 评估 = 可靠 AI 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700" b="1">
                <a:solidFill>
                  <a:srgbClr val="F8FAFC"/>
                </a:solidFill>
                <a:latin typeface="Microsoft YaHei"/>
              </a:rPr>
              <a:t>① AI 不是「收到命令→执行」的助手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500" b="0">
                <a:solidFill>
                  <a:srgbClr val="94A3B8"/>
                </a:solidFill>
                <a:latin typeface="Microsoft YaHei"/>
              </a:rPr>
              <a:t>而是「理解 → 建模 → 规划 → 执行 → 验证 → 学习」的执行者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700" b="1">
                <a:solidFill>
                  <a:srgbClr val="F8FAFC"/>
                </a:solidFill>
                <a:latin typeface="Microsoft YaHei"/>
              </a:rPr>
              <a:t>② 按角色而非工具定义 · 文件即数据库 · 治理先于执行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7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700" b="1">
                <a:solidFill>
                  <a:srgbClr val="F8FAFC"/>
                </a:solidFill>
                <a:latin typeface="Microsoft YaHei"/>
              </a:rPr>
              <a:t>③ 自动化有护栏：低风险自动，高风险人审，超限升级人工</a:t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600" b="0">
                <a:solidFill>
                  <a:srgbClr val="94A3B8"/>
                </a:solidFill>
                <a:latin typeface="Microsoft YaHei"/>
              </a:rPr>
              <a:t/>
            </a:r>
          </a:p>
          <a:p>
            <a:pPr>
              <a:lnSpc>
                <a:spcPct val="120000"/>
              </a:lnSpc>
              <a:spcAft>
                <a:spcPts val="1000"/>
              </a:spcAft>
            </a:pPr>
            <a:r>
              <a:rPr sz="1600" b="1">
                <a:solidFill>
                  <a:srgbClr val="F59E0B"/>
                </a:solidFill>
                <a:latin typeface="Microsoft YaHei"/>
              </a:rPr>
              <a:t>▪ </a:t>
            </a:r>
            <a:r>
              <a:rPr sz="1600" b="1">
                <a:solidFill>
                  <a:srgbClr val="22D3EE"/>
                </a:solidFill>
                <a:latin typeface="Microsoft YaHei"/>
              </a:rPr>
              <a:t>一个设想：先别问框架能不能做好软件 —— 它已经做好了一个（aimonitor）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2377440" cy="548640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157216"/>
            <a:ext cx="2377440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8FAFC"/>
                </a:solidFill>
                <a:latin typeface="Microsoft YaHei"/>
              </a:rPr>
              <a:t>Q &amp; 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5212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94A3B8"/>
                </a:solidFill>
                <a:latin typeface="Microsoft YaHei"/>
              </a:rPr>
              <a:t>谢谢聆听 · 欢迎提问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2A3552"/>
                </a:solidFill>
                <a:latin typeface="Microsoft YaHei"/>
              </a:rPr>
              <a:t>github: 你的仓库地址 · 作者: hb · MIT License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